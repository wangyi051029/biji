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各位老师好，我是XXX，我本次课程设计的题目是《面向小样本工业工况预测：融合统计学习的深度学习智能计算优化方案》。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本系统面向工业设备运维场景，在普通PC上实现设备剩余寿命的智能预测，下面从研究背景、方案设计、数据资源、系统实现与实验结果几个方面汇报。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本次汇报分为五个部分：研究背景与问题、方案设计、数据资源构建、系统实现、以及测试实验结果与总结展望。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核心思路是围绕统计学习、深度学习、智能计算优化三个技术方向，构建一套可运行的设备工况预测系统。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首先介绍研究背景。工业设备运维中，传感器采集大量运行数据，但故障标签样本稀缺、数据噪声大、普通硬件算力不足。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由此引出研究问题：如何在小样本、高噪声、低算力条件下，实现设备剩余寿命的准确预测。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工业设备工况预测面临三大挑战：一是故障标签样本稀缺，深度学习直接训练容易过拟合；二是传感器数据噪声大，影响特征质量；三是普通 PC 算力受限，大模型难以落地。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因此本项目的核心目标是兼顾预测精度与计算开销，在普通 PC 上实现可落地的工况预测。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方案设计采用三个技术方向融合：统计学习负责数据清洗、特征筛选与交叉验证，缓解小样本过拟合；深度学习用 LSTM 网络挖掘时序深层特征做 RUL 回归预测；智能计算优化通过剪枝、量化与学习率调度降低算力开销。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整体目标是扬长避短，在尽量不损失精度的前提下，降低计算开销，适配普通 PC 硬件。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第三章介绍数据资源构建。采用 NASA C-MAPSS 公开数据集作为数据源，并完成完整的预处理流程。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本部分回答如何建立可复现、可追溯的设备退化时序数据与预处理流程。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数据来源采用 NASA C-MAPSS 涡扇发动机退化仿真数据集，包含四个子集，任务是根据传感器时序预测剩余寿命。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预处理采用统计学习方法：清洗缺失与常量列、IQR 与 Z 值识别噪声、方差相关性与方差分析筛选特征、按发动机单元分组的交叉验证、以及标准化和滑窗。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预处理产物全部落在 data/processed 目录下，随仓库发布，保证可复现可追溯。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第四章介绍系统实现。将三个技术方向落地为一个可运行的 B/S 演示系统。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回答如何把统计学习、深度学习、智能计算优化整合进前后端一体化的完整系统。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系统采用 B/S 前后端一体化架构。前端提供六个功能页面，通过 REST API 调用后端服务。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接口层基于 FastAPI，路由到三个算法模块：统计学习、深度学习 LSTM、智能计算优化。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数据层用 SQLite 存储数据集、模型、预测与实验结果，预处理产物落在 data/processed。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整个链路形成从数据预处理到训练、优化、预测、对比的完整业务闭环。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三大算法模块的实现要点：统计学习模块负责数据清洗、噪声识别、特征筛选与交叉验证。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深度学习模块采用双层 LSTM，配合 Dropout、早停与学习率衰减防止过拟合，模型按 meta 架构保存加载，保证可复现。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智能计算优化模块实现权重剪枝与 INT8 量化，并通过 compare_models 自动对比效果。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三个模块独立实现，通过服务层统一封装，既支撑前端页面，也支持自动化测试。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这是实验结果对比页。以 FD001 子集为例，对比优化前后模型的指标。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可以看到，剪枝与 INT8 量化后，模型参数减少 29.6%，体积压缩 82.4%，而 MAE 和 RMSE 基本持平。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结论是：在精度几乎不变的前提下显著降低计算与存储开销，验证了智能计算优化模块的落地价值。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系统配套自动化测试，pytest 共 28 个用例全部通过，覆盖统计学习、深度学习、优化模块、数据库与 API 接口，可一键回归。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同时如实披露 AI 使用情况：AI 辅助编码、审查与排错，prompt 按阶段记录在 prompt/ 目录。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报告记录了 7 个典型 AI 出错案例及修复过程，例如 hidden 维度不匹配、量化破坏剪枝零值、测试环境不触发 startup 等。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整体保证程序可复现、过程可追溯，符合任务书要求。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最后进行总结与展望。围绕研究问题逐一作答：三技术方向融合已建成可运行的 B/S 系统，形成完整业务闭环；数据可复现；精度与开销实现较好平衡；过程合规可信。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展望方面：可扩展到多工况多故障模式联合建模，引入更强的时序模型做对比消融，并把量化模型部署到边缘设备。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我的汇报到此结束，恳请各位老师批评指正，谢谢。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77800" cy="68580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19200" y="2133600"/>
            <a:ext cx="1003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44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面向小样本工业工况预测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44600" y="3098800"/>
            <a:ext cx="9652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融合统计学习的深度学习智能计算优化方案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6611">
            <a:off x="1270006" y="4184650"/>
            <a:ext cx="660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7B7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244600" y="45974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838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制造智能技术课程设计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44600" y="52324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答辩人：</a:t>
            </a:r>
            <a:r>
              <a:rPr lang="zh-CN" altLang="en-US" sz="16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王祎</a:t>
            </a:r>
            <a:r>
              <a:rPr lang="en-US" sz="16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学号：202412020121　指导教师：</a:t>
            </a:r>
            <a:r>
              <a:rPr lang="zh-CN" altLang="en-US" sz="16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董绪</a:t>
            </a:r>
            <a:r>
              <a:rPr lang="zh-CN" altLang="en-US" sz="16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斌</a:t>
            </a:r>
            <a:endParaRPr lang="zh-CN" altLang="en-US" sz="1600" b="0" i="0" u="none" strike="noStrike">
              <a:solidFill>
                <a:srgbClr val="78787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44600" y="5867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C8C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2026 年 9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660400"/>
            <a:ext cx="254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6764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7018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研究背景与问题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1590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小样本 · 噪声 · 算力受限下的设备工况预测需求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2609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194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032000" y="28448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方案设计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3020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 + 深度学习 + 智能计算优化 融合方案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375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39624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032000" y="39878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数据资源构建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32000" y="44450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C-MAPSS 公开数据集 · 统计学习预处理 · 特征筛选 · 入库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489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105400"/>
            <a:ext cx="88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32000" y="51308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系统实现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032000" y="5588000"/>
            <a:ext cx="660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B/S 架构 · FastAPI 后端 · SQLite · LSTM 模型 · 前端 UI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297">
            <a:off x="1016004" y="6038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6248400"/>
            <a:ext cx="114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032000" y="62484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测试、实验结果与总结展望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24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>
                    <a:alpha val="27843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66800" y="3200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研究背景与问题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340">
            <a:off x="1117604" y="4184650"/>
            <a:ext cx="1005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17600" y="457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研究问题：如何在小样本、高噪声、低算力条件下，</a:t>
            </a:r>
            <a:b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实现工业设备工况（剩余寿命）的准确预测？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5588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工业设备工况预测的三大挑战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21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600200"/>
            <a:ext cx="101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16002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有效标签样本稀缺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2159000"/>
            <a:ext cx="787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设备故障属低频事件，带标签故障样本少，直接训练深度学习易过拟合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2813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149600"/>
            <a:ext cx="101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59000" y="31496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采集数据噪声大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159000" y="3708400"/>
            <a:ext cx="787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传感器数据受环境干扰，含异常点与随机噪声，影响特征质量与预测精度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362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699000"/>
            <a:ext cx="101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4699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普通硬件算力受限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159000" y="5257800"/>
            <a:ext cx="787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工业现场多为普通 PC、无高端 GPU，大模型训练慢、推理开销高，难以落地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911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61468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核心目标：兼顾预测精度与计算开销，在普通 PC 上实现可落地的工况预测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5588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方案设计：统计学习 + 深度学习 + 智能计算优化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212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2286000"/>
            <a:ext cx="1778000" cy="1397000"/>
          </a:xfrm>
          <a:prstGeom prst="roundRect">
            <a:avLst>
              <a:gd name="adj" fmla="val 5454"/>
            </a:avLst>
          </a:prstGeom>
          <a:solidFill>
            <a:srgbClr val="E8E4DC">
              <a:alpha val="100000"/>
            </a:srgbClr>
          </a:solidFill>
          <a:ln w="12700" cap="flat" cmpd="sng">
            <a:solidFill>
              <a:srgbClr val="B7B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89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原始数据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22600"/>
            <a:ext cx="177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C-MAPSS</a:t>
            </a:r>
            <a:br>
              <a:rPr lang="en-US" sz="12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传感器时序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07394">
            <a:off x="2590899" y="29781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3048000" y="2286000"/>
            <a:ext cx="1778000" cy="1397000"/>
          </a:xfrm>
          <a:prstGeom prst="roundRect">
            <a:avLst>
              <a:gd name="adj" fmla="val 5454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48000" y="2489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3022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清洗 · 降噪</a:t>
            </a:r>
            <a:b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特征筛选 · 交叉验证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07394">
            <a:off x="4876899" y="29781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5334000" y="2286000"/>
            <a:ext cx="1778000" cy="1397000"/>
          </a:xfrm>
          <a:prstGeom prst="roundRect">
            <a:avLst>
              <a:gd name="adj" fmla="val 5454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334000" y="2489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深度学习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3022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LSTM 时序网络</a:t>
            </a:r>
            <a:b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RUL 回归预测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7394">
            <a:off x="7162899" y="29781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7" name="AutoShape 17"/>
          <p:cNvSpPr/>
          <p:nvPr/>
        </p:nvSpPr>
        <p:spPr>
          <a:xfrm>
            <a:off x="7620000" y="2286000"/>
            <a:ext cx="1778000" cy="1397000"/>
          </a:xfrm>
          <a:prstGeom prst="roundRect">
            <a:avLst>
              <a:gd name="adj" fmla="val 5454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0" y="2489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智能计算优化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0" y="3022600"/>
            <a:ext cx="177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剪枝 · 量化</a:t>
            </a:r>
            <a:b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学习率调度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07394">
            <a:off x="9448899" y="2978150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1" name="AutoShape 21"/>
          <p:cNvSpPr/>
          <p:nvPr/>
        </p:nvSpPr>
        <p:spPr>
          <a:xfrm>
            <a:off x="9906000" y="2286000"/>
            <a:ext cx="1778000" cy="1397000"/>
          </a:xfrm>
          <a:prstGeom prst="roundRect">
            <a:avLst>
              <a:gd name="adj" fmla="val 5454"/>
            </a:avLst>
          </a:prstGeom>
          <a:solidFill>
            <a:srgbClr val="E8E4DC">
              <a:alpha val="100000"/>
            </a:srgbClr>
          </a:solidFill>
          <a:ln w="12700" cap="flat" cmpd="sng">
            <a:solidFill>
              <a:srgbClr val="B7B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906000" y="24892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工况预测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906000" y="3022600"/>
            <a:ext cx="1778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RUL 输出</a:t>
            </a:r>
            <a:br>
              <a:rPr lang="en-US" sz="12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对比验证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4191000"/>
            <a:ext cx="1041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融合思路：扬长避短，适配工业小样本现实场景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48514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统计学习负责数据处理与模型评估，缓解小样本过拟合；深度学习挖掘时序深层特征；</a:t>
            </a:r>
            <a:b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智能计算优化降低训练与推理算力开销，在尽量不损失精度的前提下适配普通 PC 硬件。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24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>
                    <a:alpha val="27843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66800" y="3200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数据资源构建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340">
            <a:off x="1117604" y="4184650"/>
            <a:ext cx="1005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17600" y="457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研究问题：如何建立可复现、可追溯的</a:t>
            </a:r>
            <a:b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设备退化时序数据与预处理流程？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5080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数据来源与统计学习预处理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136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4224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数据来源：NASA C-MAPSS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955800"/>
            <a:ext cx="482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涡扇发动机退化仿真公开数据集，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包含 FD001 ~ FD004 四个子集；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每行：单元号 + 运行周期 + 3 个操作条件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+ 21 个传感器读数；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任务：根据传感器时序预测剩余寿命 RUL；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来源：PHM Society，链接已校验有效。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604000" y="14224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统计学习预处理流程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19050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缺失与常量列处理 → 噪声识别（IQR + Z 值）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3876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特征筛选（方差 + 相关性 + 方差分析 ANOVA）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8702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GroupKFold 交叉验证划分（按发动机单元分组）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3352800"/>
            <a:ext cx="482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标准化 + 时序滑窗构造样本序列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418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4704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数据产物（data/processed）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9784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每个子集生成 train_clean / val_clean / test_clean.csv；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附带特征筛选结果 feature_selection.json、交叉验证划分 cv_folds.json、标准化参数 scaler.json。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61722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预处理程序与数据说明随仓库发布，保证可复现、可追溯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A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524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>
                    <a:alpha val="27843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66800" y="3200400"/>
            <a:ext cx="711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系统实现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340">
            <a:off x="1117604" y="4184650"/>
            <a:ext cx="1005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117600" y="457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研究问题：如何把三技术方向落地为</a:t>
            </a:r>
            <a:b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20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可运行的 B/S 演示系统？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457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系统架构：B/S 前后端一体化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905000" y="1397000"/>
            <a:ext cx="8382000" cy="812800"/>
          </a:xfrm>
          <a:prstGeom prst="roundRect">
            <a:avLst>
              <a:gd name="adj" fmla="val 9375"/>
            </a:avLst>
          </a:prstGeom>
          <a:solidFill>
            <a:srgbClr val="E8E4DC">
              <a:alpha val="100000"/>
            </a:srgbClr>
          </a:solidFill>
          <a:ln w="12700" cap="flat" cmpd="sng">
            <a:solidFill>
              <a:srgbClr val="002FA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159000" y="1524000"/>
            <a:ext cx="787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前端层 · 浏览器 UI（原生 JS + ECharts）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1854200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总览 · 数据 · 训练 · 优化 · 预测 · 对比 六页面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228255">
            <a:off x="5969000" y="23306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1905000" y="2489200"/>
            <a:ext cx="8382000" cy="685800"/>
          </a:xfrm>
          <a:prstGeom prst="roundRect">
            <a:avLst>
              <a:gd name="adj" fmla="val 11111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159000" y="2616200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接口层 · FastAPI REST API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159000" y="2895600"/>
            <a:ext cx="787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预处理 / 特征 / 训练 / 预测 / 剪枝量化 / 对比 等接口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228255">
            <a:off x="5969000" y="3295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3" name="AutoShape 13"/>
          <p:cNvSpPr/>
          <p:nvPr/>
        </p:nvSpPr>
        <p:spPr>
          <a:xfrm>
            <a:off x="1905000" y="3454400"/>
            <a:ext cx="2667000" cy="1066800"/>
          </a:xfrm>
          <a:prstGeom prst="roundRect">
            <a:avLst>
              <a:gd name="adj" fmla="val 7142"/>
            </a:avLst>
          </a:prstGeom>
          <a:solidFill>
            <a:srgbClr val="E8E4DC">
              <a:alpha val="100000"/>
            </a:srgbClr>
          </a:solidFill>
          <a:ln w="12700" cap="flat" cmpd="sng">
            <a:solidFill>
              <a:srgbClr val="B7B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905000" y="36068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905000" y="3937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清洗 · 筛选</a:t>
            </a:r>
            <a:br>
              <a:rPr lang="en-US" sz="12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交叉验证 · 评估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62500" y="3454400"/>
            <a:ext cx="2667000" cy="1066800"/>
          </a:xfrm>
          <a:prstGeom prst="roundRect">
            <a:avLst>
              <a:gd name="adj" fmla="val 7142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62500" y="36068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深度学习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762500" y="3937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双层 LSTM</a:t>
            </a:r>
            <a:b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RUL 回归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0" y="3454400"/>
            <a:ext cx="2667000" cy="1066800"/>
          </a:xfrm>
          <a:prstGeom prst="roundRect">
            <a:avLst>
              <a:gd name="adj" fmla="val 7142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0" y="3606800"/>
            <a:ext cx="266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智能计算优化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0" y="3937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权重剪枝</a:t>
            </a:r>
            <a:b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INT8 量化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5228255">
            <a:off x="5969000" y="46420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3" name="AutoShape 23"/>
          <p:cNvSpPr/>
          <p:nvPr/>
        </p:nvSpPr>
        <p:spPr>
          <a:xfrm>
            <a:off x="1905000" y="4800600"/>
            <a:ext cx="8382000" cy="685800"/>
          </a:xfrm>
          <a:prstGeom prst="roundRect">
            <a:avLst>
              <a:gd name="adj" fmla="val 11111"/>
            </a:avLst>
          </a:prstGeom>
          <a:solidFill>
            <a:srgbClr val="E8E4DC">
              <a:alpha val="100000"/>
            </a:srgbClr>
          </a:solidFill>
          <a:ln w="12700" cap="flat" cmpd="sng">
            <a:solidFill>
              <a:srgbClr val="B7B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2159000" y="4927600"/>
            <a:ext cx="787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数据层 · SQLite + 数据文件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159000" y="5207000"/>
            <a:ext cx="787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datasets / models / predictions / experiments 四表 · data/processed 预处理产物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16000" y="58674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业务闭环：数据预处理 → 模型训练 → 剪枝量化优化 → 在线预测 → 结果对比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62992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28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后端 Python 3 + FastAPI + PyTorch(CPU) · 前端原生 HTML/CSS/JS · 数据库 SQLite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457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三大算法模块的实现要点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3970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159000" y="1397000"/>
            <a:ext cx="457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统计学习模块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187960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缺失/常量清洗 · IQR + Z 值噪声识别 · 方差 + 相关性 + ANOVA 特征筛选 · GroupKFold 交叉验证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4297">
            <a:off x="1016004" y="253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194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59000" y="2819400"/>
            <a:ext cx="457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深度学习模块（LSTM）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159000" y="330200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双层 LSTM + Dropout · 早停 EarlyStopping · 学习率衰减 · SmoothL1Loss；模型按 meta 架构重建加载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297">
            <a:off x="1016004" y="3956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241800"/>
            <a:ext cx="114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159000" y="4241800"/>
            <a:ext cx="4572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智能计算优化模块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159000" y="4749800"/>
            <a:ext cx="838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权重幅值剪枝 · INT8 模拟量化 · compare_models 自动对比并写入实验记录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378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6388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三个模块均以独立 Python 模块实现，通过服务层统一封装，</a:t>
            </a:r>
            <a:b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既支持前端页面调用，也支持自动化测试与批量实验。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457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实验结果：智能计算优化对模型的影响（FD001）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397000" y="1422400"/>
          <a:ext cx="9398000" cy="320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2794000"/>
                <a:gridCol w="2032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指标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优化前（基线）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优化后（剪枝 + INT8 量化）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变化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FA7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MAE（平均绝对误差）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12.06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12.10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846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基本持平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RMSE（均方根误差）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15.86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约 15.9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846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基本持平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参数数量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121.0 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85.2 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846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-29.6%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模型大小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约 484 KB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约 85 KB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846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-82.4%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单次推理耗时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0.06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83838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低于 0.05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846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更快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1397000" y="49784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7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结论：在 MAE、RMSE 基本不变的前提下，模型参数减少 29.6%、</a:t>
            </a:r>
            <a:br>
              <a:rPr lang="en-US" sz="17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7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体积压缩 82.4%，推理更轻量，验证了智能计算优化的价值。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397000" y="6019800"/>
            <a:ext cx="939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C8C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数据来源：系统 seed 脚本在 FD001 上实测（data/app.db experiments 表），普通 PC CPU 环境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457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自动化测试与 AI 使用披露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422400"/>
            <a:ext cx="508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自动化测试：pytest 28 例全通过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066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四个测试文件覆盖：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统计学习清洗 / 特征筛选 / 交叉验证；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LSTM 训练与模型加载 / 剪枝 / 量化 / 对比；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数据库增删查；API 端到端接口；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全部用例通过，构建可一键回归。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90503">
            <a:off x="4051300" y="3663959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1422400"/>
            <a:ext cx="5080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使用与过程档案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0066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辅助编码、审查与排错，全程记录 prompt：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按阶段提交至 prompt/ 目录，可追溯；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报告披露关键 prompt 策略与 AI 出错案例：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zscore 常值列告警、hidden 维度不匹配、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量化破坏剪枝零值、数据库约束、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测试环境不触发 startup、前后端参数不一致等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7 个典型案例已定位并修复。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61976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保证：程序可复现、过程可追溯、AI 使用如实披露，符合任务书要求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2FA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457200"/>
            <a:ext cx="889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1085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1422400"/>
            <a:ext cx="482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总结：研究问题逐条作答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066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三技术方向能否融合落地？——已建成 B/S 系统，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形成数据到预测的完整业务闭环；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数据是否可复现？——C-MAPSS 公开数据 + 预处理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全流程随仓库发布；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精度与开销如何平衡？——精度基本持平，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模型体积压缩 82.4%，参数减少 29.6%；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过程是否合规可信？——28 个测试全过，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AI 使用与 prompt 全程如实披露。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90503">
            <a:off x="3797300" y="3663959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AD4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1422400"/>
            <a:ext cx="482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100" b="1" i="0" u="none" strike="noStrike">
                <a:solidFill>
                  <a:srgbClr val="002FA7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展望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0066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扩展到多工况多故障模式：FD002 ~ FD004 全子集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联合建模与迁移学习；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引入更强时序模型：Transformer、时序卷积等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与 LSTM 对比消融；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工程落地：把量化模型部署到边缘设备，</a:t>
            </a:r>
            <a:b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5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支持实时在线监测与告警。</a:t>
            </a:r>
            <a:endParaRPr lang="en-US" sz="1500" b="0" i="0" u="none" strike="noStrike">
              <a:solidFill>
                <a:srgbClr val="505050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297">
            <a:off x="1016004" y="596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2FA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1016000" y="61722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11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恳请各位老师批评指正，谢谢！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2814</Words>
  <Application>WPS 演示</Application>
  <PresentationFormat/>
  <Paragraphs>274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WPS_1641988589</cp:lastModifiedBy>
  <cp:revision>2</cp:revision>
  <dcterms:created xsi:type="dcterms:W3CDTF">2026-09-03T02:30:28Z</dcterms:created>
  <dcterms:modified xsi:type="dcterms:W3CDTF">2026-09-03T02:30:48Z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{"Label":"1","ContentProducer":"001191110102MACQD9K64010000","ProduceID":"7681130378768255950","ReservedCode1":"","ContentPropagator":"","PropagateID":"","ReservedCode2":""}</vt:lpwstr>
  </property>
  <property fmtid="{D5CDD505-2E9C-101B-9397-08002B2CF9AE}" pid="3" name="ICV">
    <vt:lpwstr>F663DB6FC96B46959FDFB9EDF7C69C76_13</vt:lpwstr>
  </property>
  <property fmtid="{D5CDD505-2E9C-101B-9397-08002B2CF9AE}" pid="4" name="KSOProductBuildVer">
    <vt:lpwstr>2052-12.1.0.28043</vt:lpwstr>
  </property>
</Properties>
</file>